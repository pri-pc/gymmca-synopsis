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274320"/>
            <a:ext cx="2286000" cy="2286000"/>
          </a:xfrm>
          <a:prstGeom prst="ellipse">
            <a:avLst/>
          </a:prstGeom>
          <a:solidFill>
            <a:srgbClr val="00C86F">
              <a:alpha val="15000"/>
            </a:srgbClr>
          </a:solidFill>
          <a:ln w="25400">
            <a:solidFill>
              <a:srgbClr val="00C8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640080"/>
            <a:ext cx="1463040" cy="1463040"/>
          </a:xfrm>
          <a:prstGeom prst="ellipse">
            <a:avLst/>
          </a:prstGeom>
          <a:solidFill>
            <a:srgbClr val="00C86F">
              <a:alpha val="30000"/>
            </a:srgbClr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0"/>
            <a:ext cx="2286000" cy="2286000"/>
          </a:xfrm>
          <a:prstGeom prst="ellipse">
            <a:avLst/>
          </a:prstGeom>
          <a:solidFill>
            <a:srgbClr val="00C86F">
              <a:alpha val="10000"/>
            </a:srgbClr>
          </a:solidFill>
          <a:ln w="25400">
            <a:solidFill>
              <a:srgbClr val="00C8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486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PROJECT SYNOPSIS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Membership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Tracking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65760" y="3291840"/>
            <a:ext cx="2560320" cy="4572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40156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Pritish Prembahadur Rana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72160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Sagar Nichal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04164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1st Year (2nd Semester)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36168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in Computer Application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097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Application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3108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280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presentation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233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52144"/>
            <a:ext cx="320040" cy="3200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52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1612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586484"/>
            <a:ext cx="4023360" cy="438912"/>
          </a:xfrm>
          <a:prstGeom prst="rect">
            <a:avLst/>
          </a:prstGeom>
          <a:solidFill>
            <a:srgbClr val="F8FF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641348"/>
            <a:ext cx="320040" cy="3200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6413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16504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075688"/>
            <a:ext cx="40233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130552"/>
            <a:ext cx="320040" cy="3200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130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213969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2564892"/>
            <a:ext cx="4023360" cy="438912"/>
          </a:xfrm>
          <a:prstGeom prst="rect">
            <a:avLst/>
          </a:prstGeom>
          <a:solidFill>
            <a:srgbClr val="F8FF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619756"/>
            <a:ext cx="320040" cy="3200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6197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" y="26289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054096"/>
            <a:ext cx="40233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108960"/>
            <a:ext cx="320040" cy="3200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" y="31181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543300"/>
            <a:ext cx="4023360" cy="438912"/>
          </a:xfrm>
          <a:prstGeom prst="rect">
            <a:avLst/>
          </a:prstGeom>
          <a:solidFill>
            <a:srgbClr val="F8FF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598164"/>
            <a:ext cx="320040" cy="3200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5981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" y="36073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4032504"/>
            <a:ext cx="40233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7472" y="4087368"/>
            <a:ext cx="320040" cy="3200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087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808" y="4096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4521708"/>
            <a:ext cx="4023360" cy="438912"/>
          </a:xfrm>
          <a:prstGeom prst="rect">
            <a:avLst/>
          </a:prstGeom>
          <a:solidFill>
            <a:srgbClr val="F8FF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7472" y="4576572"/>
            <a:ext cx="320040" cy="3200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5765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808" y="458571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Access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54880" y="1097280"/>
            <a:ext cx="41148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28032" y="1152144"/>
            <a:ext cx="320040" cy="3200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1152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30368" y="11612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(Agile)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754880" y="1586484"/>
            <a:ext cx="4114800" cy="438912"/>
          </a:xfrm>
          <a:prstGeom prst="rect">
            <a:avLst/>
          </a:prstGeom>
          <a:solidFill>
            <a:srgbClr val="F8FF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28032" y="1641348"/>
            <a:ext cx="320040" cy="3200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16413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30368" y="16504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754880" y="2075688"/>
            <a:ext cx="41148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28032" y="2130552"/>
            <a:ext cx="320040" cy="3200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2130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30368" y="21396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754880" y="2564892"/>
            <a:ext cx="4114800" cy="438912"/>
          </a:xfrm>
          <a:prstGeom prst="rect">
            <a:avLst/>
          </a:prstGeom>
          <a:solidFill>
            <a:srgbClr val="F8FF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28032" y="2619756"/>
            <a:ext cx="320040" cy="3200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8032" y="26197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30368" y="26289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754880" y="3054096"/>
            <a:ext cx="41148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28032" y="3108960"/>
            <a:ext cx="320040" cy="3200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230368" y="31181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754880" y="3543300"/>
            <a:ext cx="4114800" cy="438912"/>
          </a:xfrm>
          <a:prstGeom prst="rect">
            <a:avLst/>
          </a:prstGeom>
          <a:solidFill>
            <a:srgbClr val="F8FF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828032" y="3598164"/>
            <a:ext cx="320040" cy="3200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28032" y="35981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230368" y="36073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4754880" y="4032504"/>
            <a:ext cx="411480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828032" y="4087368"/>
            <a:ext cx="320040" cy="3200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28032" y="4087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230368" y="40965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Conclusion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280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evolving landscape of fitness technology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63040"/>
            <a:ext cx="64008" cy="3291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3794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has evolved beyond static interfaces to include interactive and immersive user experiences.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platforms increasingly use dynamic elements to enhance visualization and user engagement.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Three.js, a JavaScript-based 3D library, allows developers to create interactive graphics directly in the browser using WebGL.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evolution opens new possibilities for fitness and gym management systems.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4023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63040"/>
            <a:ext cx="64008" cy="621792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5361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demand for digital fitness solutions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176272"/>
            <a:ext cx="4023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2176272"/>
            <a:ext cx="64008" cy="621792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2494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gyms lack efficient management tools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889504"/>
            <a:ext cx="4023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889504"/>
            <a:ext cx="64008" cy="621792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96265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need trackable fitness progress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3602736"/>
            <a:ext cx="4023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602736"/>
            <a:ext cx="64008" cy="621792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675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need structured plan assignment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4315968"/>
            <a:ext cx="4023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4315968"/>
            <a:ext cx="64008" cy="621792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43891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need real-time data &amp; payment tracking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by small and medium-sized gyms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1554480"/>
          </a:xfrm>
          <a:prstGeom prst="rect">
            <a:avLst/>
          </a:prstGeom>
          <a:solidFill>
            <a:srgbClr val="0A152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97280"/>
            <a:ext cx="27432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07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9019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systems and spreadsheets lead to inaccurate, hard-to-access member data.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743200" cy="1554480"/>
          </a:xfrm>
          <a:prstGeom prst="rect">
            <a:avLst/>
          </a:prstGeom>
          <a:solidFill>
            <a:srgbClr val="0A152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97280"/>
            <a:ext cx="27432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07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Workout Tracking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9019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have no structured way to log or review their workout history and progress.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1097280"/>
            <a:ext cx="2743200" cy="1554480"/>
          </a:xfrm>
          <a:prstGeom prst="rect">
            <a:avLst/>
          </a:prstGeom>
          <a:solidFill>
            <a:srgbClr val="0A152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097280"/>
            <a:ext cx="27432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207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508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Personalized Plans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90195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cannot efficiently create and assign custom workout plans to each member.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2834640"/>
            <a:ext cx="2743200" cy="1554480"/>
          </a:xfrm>
          <a:prstGeom prst="rect">
            <a:avLst/>
          </a:prstGeom>
          <a:solidFill>
            <a:srgbClr val="0A152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834640"/>
            <a:ext cx="27432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9443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0040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Communication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363931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trainer–member interaction leads to disengagement and missed fitness goals.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2834640"/>
            <a:ext cx="2743200" cy="1554480"/>
          </a:xfrm>
          <a:prstGeom prst="rect">
            <a:avLst/>
          </a:prstGeom>
          <a:solidFill>
            <a:srgbClr val="0A152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834640"/>
            <a:ext cx="27432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9443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337560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Inefficiency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363931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renewals and payments are tracked manually, causing delays and errors.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2834640"/>
            <a:ext cx="2743200" cy="1554480"/>
          </a:xfrm>
          <a:prstGeom prst="rect">
            <a:avLst/>
          </a:prstGeom>
          <a:solidFill>
            <a:srgbClr val="0A152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2834640"/>
            <a:ext cx="27432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9443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55080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363931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owners lack data-driven insights to improve operations and member retention.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280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web platform for modern gym management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822960"/>
          </a:xfrm>
          <a:prstGeom prst="rect">
            <a:avLst/>
          </a:prstGeom>
          <a:solidFill>
            <a:srgbClr val="00C86F">
              <a:alpha val="90000"/>
            </a:srgbClr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Gym Membership and Workout Tracking System — a web-based platform that automates member management, workout planning, and payment tracking with role-based access.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2377440"/>
            <a:ext cx="594360" cy="59436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2194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Operations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25420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records with a digital system for all gym management tasks.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210312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2377440"/>
            <a:ext cx="594360" cy="59436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50792" y="2194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Mgmt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050792" y="25420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memberships, renewals, and payments with automated notifications.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10312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27648" y="2377440"/>
            <a:ext cx="594360" cy="59436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22592" y="2194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Plans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022592" y="25420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assign personalized plans; members access them from dashboards.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52044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794760"/>
            <a:ext cx="594360" cy="59436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78992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Analytics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78992" y="395935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reports and charts help members track their fitness journey.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352044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55848" y="3794760"/>
            <a:ext cx="594360" cy="59436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050792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050792" y="395935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portals for Admin, Trainer, and Member for secure access.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520440"/>
            <a:ext cx="27432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27648" y="3794760"/>
            <a:ext cx="594360" cy="59436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022592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022592" y="395935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 browser — no installation needed by members.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280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operational 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7899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application automating gym operations. Admins manage members, trainers, memberships and payments. Trainers assign workout plans. Members track workouts and fitness progress through dashboards. Role-based access ensures secure and efficient system use.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1508760" cy="1005840"/>
          </a:xfrm>
          <a:prstGeom prst="rect">
            <a:avLst/>
          </a:prstGeom>
          <a:solidFill>
            <a:srgbClr val="3B82F6">
              <a:alpha val="8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830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783080" y="2212848"/>
            <a:ext cx="228600" cy="73152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21488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0" y="1783080"/>
            <a:ext cx="1508760" cy="1005840"/>
          </a:xfrm>
          <a:prstGeom prst="rect">
            <a:avLst/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7830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20440" y="2212848"/>
            <a:ext cx="228600" cy="73152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21488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1783080"/>
            <a:ext cx="1508760" cy="1005840"/>
          </a:xfrm>
          <a:prstGeom prst="rect">
            <a:avLst/>
          </a:prstGeom>
          <a:solidFill>
            <a:srgbClr val="00C86F">
              <a:alpha val="85000"/>
            </a:srgbClr>
          </a:solidFill>
          <a:ln w="19050">
            <a:solidFill>
              <a:srgbClr val="00C8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7830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257800" y="2212848"/>
            <a:ext cx="228600" cy="73152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21488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1783080"/>
            <a:ext cx="1508760" cy="1005840"/>
          </a:xfrm>
          <a:prstGeom prst="rect">
            <a:avLst/>
          </a:prstGeom>
          <a:solidFill>
            <a:srgbClr val="0D9488">
              <a:alpha val="85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7830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95160" y="2212848"/>
            <a:ext cx="228600" cy="73152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21488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23760" y="1783080"/>
            <a:ext cx="1508760" cy="1005840"/>
          </a:xfrm>
          <a:prstGeom prst="rect">
            <a:avLst/>
          </a:prstGeom>
          <a:solidFill>
            <a:srgbClr val="A78BFA">
              <a:alpha val="85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178308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" y="297180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71800"/>
            <a:ext cx="2743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71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 Admin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3456432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members &amp; trainers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memberships &amp; payments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system analytics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0" y="297180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971800"/>
            <a:ext cx="27432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2971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  Trainer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37560" y="3456432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workout plans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plans to members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member progress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26480" y="297180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2971800"/>
            <a:ext cx="274320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971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Member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63640" y="3456432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workouts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daily exercises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fitness progress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280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 components of the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417320"/>
            <a:ext cx="621792" cy="621792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17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2344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Module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58191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Dedicated, responsive dashboards for all three user roles — Admin, Trainer, and Member. Built with React.js components for a seamless interactive experience.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43000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0328" y="1417320"/>
            <a:ext cx="621792" cy="621792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417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69280" y="12344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Module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158191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secure login, session management, and role-based validation. Ensures each user can only access their authorized areas of the system.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606040"/>
            <a:ext cx="64008" cy="128016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" y="2880360"/>
            <a:ext cx="621792" cy="621792"/>
          </a:xfrm>
          <a:prstGeom prst="ellipse">
            <a:avLst/>
          </a:prstGeom>
          <a:solidFill>
            <a:srgbClr val="00C86F">
              <a:alpha val="20000"/>
            </a:srgbClr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880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26974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Module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04495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all API requests and business logic using Node.js and Express.js. Provides RESTful API endpoints consumed by the React.js frontend.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60604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606040"/>
            <a:ext cx="64008" cy="1280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0328" y="2880360"/>
            <a:ext cx="621792" cy="621792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880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69280" y="26974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Module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0" y="304495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user profiles, workout plans, exercise logs, membership data, and payment records in Microsoft SQL Server with normalized schemas.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06908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069080"/>
            <a:ext cx="64008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9768" y="4343400"/>
            <a:ext cx="621792" cy="621792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4343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88720" y="4160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Membership Module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88720" y="450799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membership plans, renewal dates, payment history, and generates alerts for expiring memberships for admin oversight.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406908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4069080"/>
            <a:ext cx="64008" cy="12801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0328" y="4343400"/>
            <a:ext cx="621792" cy="621792"/>
          </a:xfrm>
          <a:prstGeom prst="ellipse">
            <a:avLst/>
          </a:prstGeom>
          <a:solidFill>
            <a:srgbClr val="E74C3C">
              <a:alpha val="2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4343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669280" y="4160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 Module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669280" y="450799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visual fitness progress reports for members and operational dashboards for admins using charts and summary statistics.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powering the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463040" cy="68580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97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74520" y="1170432"/>
            <a:ext cx="1673352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170432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1170432"/>
            <a:ext cx="1673352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170432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40680" y="1170432"/>
            <a:ext cx="1673352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1170432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1170432"/>
            <a:ext cx="1673352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170432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8600" y="2057400"/>
            <a:ext cx="1463040" cy="68580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0574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74520" y="2130552"/>
            <a:ext cx="2267712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213055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51960" y="2130552"/>
            <a:ext cx="2267712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13055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29400" y="2130552"/>
            <a:ext cx="2267712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13055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8600" y="3017520"/>
            <a:ext cx="1463040" cy="685800"/>
          </a:xfrm>
          <a:prstGeom prst="rect">
            <a:avLst/>
          </a:prstGeom>
          <a:solidFill>
            <a:srgbClr val="00C86F">
              <a:alpha val="80000"/>
            </a:srgbClr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0175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74520" y="3090672"/>
            <a:ext cx="7022592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74520" y="3090672"/>
            <a:ext cx="7022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28600" y="3977640"/>
            <a:ext cx="1463040" cy="685800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977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874520" y="4050792"/>
            <a:ext cx="2267712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74520" y="405079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251960" y="4050792"/>
            <a:ext cx="2267712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405079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629400" y="4050792"/>
            <a:ext cx="2267712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405079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280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client–server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(Frontend)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2468880" cy="548640"/>
          </a:xfrm>
          <a:prstGeom prst="rect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Components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532888"/>
            <a:ext cx="2468880" cy="548640"/>
          </a:xfrm>
          <a:prstGeom prst="rect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32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 UI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191256"/>
            <a:ext cx="2468880" cy="548640"/>
          </a:xfrm>
          <a:prstGeom prst="rect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912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849624"/>
            <a:ext cx="2468880" cy="548640"/>
          </a:xfrm>
          <a:prstGeom prst="rect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8496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Views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26517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00400" y="109728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097280"/>
            <a:ext cx="2743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(Backend)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1874520"/>
            <a:ext cx="2468880" cy="548640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2532888"/>
            <a:ext cx="2468880" cy="548640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532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Routes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37560" y="3191256"/>
            <a:ext cx="2468880" cy="548640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1912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37560" y="3849624"/>
            <a:ext cx="2468880" cy="548640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8496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26517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26480" y="109728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1097280"/>
            <a:ext cx="2743200" cy="64008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2648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(Database)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1874520"/>
            <a:ext cx="2468880" cy="548640"/>
          </a:xfrm>
          <a:prstGeom prst="rect">
            <a:avLst/>
          </a:prstGeom>
          <a:solidFill>
            <a:srgbClr val="00C86F">
              <a:alpha val="12000"/>
            </a:srgbClr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63640" y="2532888"/>
            <a:ext cx="2468880" cy="548640"/>
          </a:xfrm>
          <a:prstGeom prst="rect">
            <a:avLst/>
          </a:prstGeom>
          <a:solidFill>
            <a:srgbClr val="00C86F">
              <a:alpha val="12000"/>
            </a:srgbClr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532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Relations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63640" y="3191256"/>
            <a:ext cx="2468880" cy="548640"/>
          </a:xfrm>
          <a:prstGeom prst="rect">
            <a:avLst/>
          </a:prstGeom>
          <a:solidFill>
            <a:srgbClr val="00C86F">
              <a:alpha val="12000"/>
            </a:srgbClr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31912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63640" y="3849624"/>
            <a:ext cx="2468880" cy="548640"/>
          </a:xfrm>
          <a:prstGeom prst="rect">
            <a:avLst/>
          </a:prstGeom>
          <a:solidFill>
            <a:srgbClr val="00C86F">
              <a:alpha val="12000"/>
            </a:srgbClr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38496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280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Access Control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 for each user type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Admin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256032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76479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Add / remove members &amp; trainers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256032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24028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Manage membership plans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715768"/>
            <a:ext cx="256032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71576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View all payment records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191256"/>
            <a:ext cx="256032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19125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Approve new registrations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666744"/>
            <a:ext cx="256032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66674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Access system-wide reports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142232"/>
            <a:ext cx="256032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14223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Configure gym settings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109728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097280"/>
            <a:ext cx="27432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1097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 Trainer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91840" y="1764792"/>
            <a:ext cx="256032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176479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View assigned members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0" y="2240280"/>
            <a:ext cx="256032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24028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Create workout plans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91840" y="2715768"/>
            <a:ext cx="256032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271576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Assign plans to members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91840" y="3191256"/>
            <a:ext cx="256032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319125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Track member progress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91840" y="3666744"/>
            <a:ext cx="256032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66674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Update exercise details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91840" y="4142232"/>
            <a:ext cx="2560320" cy="420624"/>
          </a:xfrm>
          <a:prstGeom prst="rect">
            <a:avLst/>
          </a:prstGeom>
          <a:solidFill>
            <a:srgbClr val="FFF0EE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414223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Cannot access payments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26480" y="109728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1097280"/>
            <a:ext cx="274320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1097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Member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217920" y="1764792"/>
            <a:ext cx="256032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176479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View assigned workout plan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17920" y="2240280"/>
            <a:ext cx="256032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224028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Log daily exercise sessions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17920" y="2715768"/>
            <a:ext cx="256032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91072" y="271576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Track personal progress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17920" y="3191256"/>
            <a:ext cx="256032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319125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View membership status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17920" y="3666744"/>
            <a:ext cx="256032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366674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Update personal profile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17920" y="4142232"/>
            <a:ext cx="2560320" cy="420624"/>
          </a:xfrm>
          <a:prstGeom prst="rect">
            <a:avLst/>
          </a:prstGeom>
          <a:solidFill>
            <a:srgbClr val="FFF0EE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414223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Cannot manage other users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280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Agile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development for reliable, tested modules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097280"/>
            <a:ext cx="868680" cy="8686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97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435608" y="1481328"/>
            <a:ext cx="283464" cy="64008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299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359152"/>
            <a:ext cx="1353312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59152"/>
            <a:ext cx="135331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50592"/>
            <a:ext cx="1234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requirements, define scope, identify stakeholders and deliverables.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0" y="1097280"/>
            <a:ext cx="868680" cy="8686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097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880360" y="1481328"/>
            <a:ext cx="283464" cy="64008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10512" y="20299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764792" y="2359152"/>
            <a:ext cx="1353312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764792" y="2359152"/>
            <a:ext cx="135331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2450592"/>
            <a:ext cx="1234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DB schema, UI wireframes, API design.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56432" y="1097280"/>
            <a:ext cx="868680" cy="868680"/>
          </a:xfrm>
          <a:prstGeom prst="ellipse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6432" y="1097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325112" y="1481328"/>
            <a:ext cx="283464" cy="64008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55264" y="20299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9544" y="2359152"/>
            <a:ext cx="1353312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9544" y="2359152"/>
            <a:ext cx="1353312" cy="54864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73552" y="2450592"/>
            <a:ext cx="1234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Module-by-module implementation with iterative coding and review.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01184" y="1097280"/>
            <a:ext cx="868680" cy="8686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1097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769864" y="1481328"/>
            <a:ext cx="283464" cy="64008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20299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54296" y="2359152"/>
            <a:ext cx="1353312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54296" y="2359152"/>
            <a:ext cx="135331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2450592"/>
            <a:ext cx="1234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Functional, browser, and sample data testing per module.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45936" y="1097280"/>
            <a:ext cx="868680" cy="8686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45936" y="1097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214616" y="1481328"/>
            <a:ext cx="283464" cy="64008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20299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099048" y="2359152"/>
            <a:ext cx="1353312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99048" y="2359152"/>
            <a:ext cx="135331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63056" y="2450592"/>
            <a:ext cx="1234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feedback, bug fixes, and refinements after each sprint.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90688" y="1097280"/>
            <a:ext cx="868680" cy="8686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90688" y="1097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589520" y="202996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543800" y="2359152"/>
            <a:ext cx="1353312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543800" y="2359152"/>
            <a:ext cx="1353312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2450592"/>
            <a:ext cx="1234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web-based delivery, documentation, and presentation.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280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reliability, security, and functionality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64008" cy="1600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444752"/>
            <a:ext cx="594360" cy="59436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44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1887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5361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(auth, workout, payment, reporting) tested individually for correctness.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88720" y="2267712"/>
            <a:ext cx="960120" cy="27432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267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Per-function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40280" y="2267712"/>
            <a:ext cx="960120" cy="27432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2267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2267712"/>
            <a:ext cx="960120" cy="27432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267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09728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097280"/>
            <a:ext cx="6400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3752" y="1444752"/>
            <a:ext cx="594360" cy="59436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1444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23560" y="11887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15361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API endpoints, database connections, and module interactions work as expected.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23560" y="2267712"/>
            <a:ext cx="96012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2267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75120" y="2267712"/>
            <a:ext cx="96012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2267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Checks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26680" y="2267712"/>
            <a:ext cx="960120" cy="27432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2267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92608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926080"/>
            <a:ext cx="64008" cy="160020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" y="3273552"/>
            <a:ext cx="594360" cy="594360"/>
          </a:xfrm>
          <a:prstGeom prst="ellipse">
            <a:avLst/>
          </a:prstGeom>
          <a:solidFill>
            <a:srgbClr val="00C86F">
              <a:alpha val="20000"/>
            </a:srgbClr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273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88720" y="3017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Testing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88720" y="33649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tested across multiple browsers (Chrome, Firefox, Edge) for consistency and responsiveness.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188720" y="4096512"/>
            <a:ext cx="960120" cy="274320"/>
          </a:xfrm>
          <a:prstGeom prst="rect">
            <a:avLst/>
          </a:prstGeom>
          <a:solidFill>
            <a:srgbClr val="00C86F">
              <a:alpha val="20000"/>
            </a:srgbClr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40965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240280" y="4096512"/>
            <a:ext cx="960120" cy="274320"/>
          </a:xfrm>
          <a:prstGeom prst="rect">
            <a:avLst/>
          </a:prstGeom>
          <a:solidFill>
            <a:srgbClr val="00C86F">
              <a:alpha val="20000"/>
            </a:srgbClr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40280" y="40965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91840" y="4096512"/>
            <a:ext cx="960120" cy="274320"/>
          </a:xfrm>
          <a:prstGeom prst="rect">
            <a:avLst/>
          </a:prstGeom>
          <a:solidFill>
            <a:srgbClr val="00C86F">
              <a:alpha val="20000"/>
            </a:srgbClr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40965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Accuracy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292608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2926080"/>
            <a:ext cx="64008" cy="1600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73752" y="3273552"/>
            <a:ext cx="594360" cy="59436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3273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623560" y="3017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Testing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623560" y="33649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 scenarios used to simulate member registration, workout logging, and payments.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623560" y="4096512"/>
            <a:ext cx="960120" cy="274320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40965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data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675120" y="4096512"/>
            <a:ext cx="960120" cy="274320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40965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726680" y="4096512"/>
            <a:ext cx="960120" cy="274320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26680" y="40965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280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specifications for development and deployment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63040"/>
            <a:ext cx="6400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764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i5 or equivalent / higher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40280"/>
            <a:ext cx="6400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minimum (16 GB recommended)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17520"/>
            <a:ext cx="6400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319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for project files &amp; DB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" y="379476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794760"/>
            <a:ext cx="6400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096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connection for deployment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0" y="1097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463040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463040"/>
            <a:ext cx="64008" cy="59436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508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1719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54880" y="2148840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148840"/>
            <a:ext cx="64008" cy="59436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194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Editor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2404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54880" y="2834640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834640"/>
            <a:ext cx="64008" cy="59436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83480" y="3090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754880" y="3520440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520440"/>
            <a:ext cx="64008" cy="59436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566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83480" y="3776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HTML/CSS/JS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54880" y="4206240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206240"/>
            <a:ext cx="64008" cy="59436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4251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83480" y="4462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274320" y="4663440"/>
            <a:ext cx="859536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6634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development tools are freely available — open-source, industry-standard environment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280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will deliver upon completion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06908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53312"/>
            <a:ext cx="667512" cy="667512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53312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07008" y="12344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1572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Separate, intuitive views for Admin, Trainer, and Member with tailored features.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04872"/>
            <a:ext cx="406908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04872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615184"/>
            <a:ext cx="667512" cy="667512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15184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07008" y="24963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Management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2834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tracking of memberships, renewals, and payment history with alerts.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666744"/>
            <a:ext cx="406908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666744"/>
            <a:ext cx="64008" cy="1115568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877056"/>
            <a:ext cx="667512" cy="667512"/>
          </a:xfrm>
          <a:prstGeom prst="ellipse">
            <a:avLst/>
          </a:prstGeom>
          <a:solidFill>
            <a:srgbClr val="00C86F">
              <a:alpha val="20000"/>
            </a:srgbClr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877056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207008" y="37581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Planning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07008" y="40965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assign personalized plans; members access structured routines easily.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143000"/>
            <a:ext cx="406908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14300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353312"/>
            <a:ext cx="667512" cy="667512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353312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641848" y="12344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Progress Reports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41848" y="1572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charts and reports help members track and analyze their fitness journey.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404872"/>
            <a:ext cx="406908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404872"/>
            <a:ext cx="64008" cy="11155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615184"/>
            <a:ext cx="667512" cy="667512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615184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641848" y="24963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 Control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41848" y="28346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ensures data privacy and system security at all levels.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666744"/>
            <a:ext cx="406908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666744"/>
            <a:ext cx="64008" cy="11155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877056"/>
            <a:ext cx="667512" cy="667512"/>
          </a:xfrm>
          <a:prstGeom prst="ellipse">
            <a:avLst/>
          </a:prstGeom>
          <a:solidFill>
            <a:srgbClr val="E74C3C">
              <a:alpha val="2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877056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5641848" y="37581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Gym Interaction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641848" y="40965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trainer–member communication and overall operational efficiency.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Standout capabilities of the Gym Tracking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685800"/>
          </a:xfrm>
          <a:prstGeom prst="rect">
            <a:avLst/>
          </a:prstGeom>
          <a:solidFill>
            <a:srgbClr val="0A1520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43000"/>
            <a:ext cx="502920" cy="502920"/>
          </a:xfrm>
          <a:prstGeom prst="ellipse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16128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JWT-based login with role validation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860804"/>
            <a:ext cx="4114800" cy="685800"/>
          </a:xfrm>
          <a:prstGeom prst="rect">
            <a:avLst/>
          </a:prstGeom>
          <a:solidFill>
            <a:srgbClr val="0A1520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924812"/>
            <a:ext cx="502920" cy="502920"/>
          </a:xfrm>
          <a:prstGeom prst="ellipse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248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7552" y="194310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membership renewal reminders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2642616"/>
            <a:ext cx="4114800" cy="685800"/>
          </a:xfrm>
          <a:prstGeom prst="rect">
            <a:avLst/>
          </a:prstGeom>
          <a:solidFill>
            <a:srgbClr val="0A1520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706624"/>
            <a:ext cx="502920" cy="502920"/>
          </a:xfrm>
          <a:prstGeom prst="ellipse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" y="272491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workout plan builder for trainers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3424428"/>
            <a:ext cx="4114800" cy="685800"/>
          </a:xfrm>
          <a:prstGeom prst="rect">
            <a:avLst/>
          </a:prstGeom>
          <a:solidFill>
            <a:srgbClr val="0A1520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3488436"/>
            <a:ext cx="502920" cy="502920"/>
          </a:xfrm>
          <a:prstGeom prst="ellipse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4884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350672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logging with sets, reps &amp; duration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4114800" cy="685800"/>
          </a:xfrm>
          <a:prstGeom prst="rect">
            <a:avLst/>
          </a:prstGeom>
          <a:solidFill>
            <a:srgbClr val="0A1520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4270248"/>
            <a:ext cx="502920" cy="502920"/>
          </a:xfrm>
          <a:prstGeom prst="ellipse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" y="428853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progress charts for members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1078992"/>
            <a:ext cx="4114800" cy="685800"/>
          </a:xfrm>
          <a:prstGeom prst="rect">
            <a:avLst/>
          </a:prstGeom>
          <a:solidFill>
            <a:srgbClr val="0A1520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64608" y="1143000"/>
            <a:ext cx="502920" cy="502920"/>
          </a:xfrm>
          <a:prstGeom prst="ellipse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68112" y="1161288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history and invoice generation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1860804"/>
            <a:ext cx="4114800" cy="685800"/>
          </a:xfrm>
          <a:prstGeom prst="rect">
            <a:avLst/>
          </a:prstGeom>
          <a:solidFill>
            <a:srgbClr val="0A1520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64608" y="1924812"/>
            <a:ext cx="502920" cy="502920"/>
          </a:xfrm>
          <a:prstGeom prst="ellipse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9248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68112" y="194310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dashboard with KPIs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54880" y="2642616"/>
            <a:ext cx="4114800" cy="685800"/>
          </a:xfrm>
          <a:prstGeom prst="rect">
            <a:avLst/>
          </a:prstGeom>
          <a:solidFill>
            <a:srgbClr val="0A1520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64608" y="2706624"/>
            <a:ext cx="502920" cy="502920"/>
          </a:xfrm>
          <a:prstGeom prst="ellipse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68112" y="2724912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— works on all screen sizes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754880" y="3424428"/>
            <a:ext cx="4114800" cy="685800"/>
          </a:xfrm>
          <a:prstGeom prst="rect">
            <a:avLst/>
          </a:prstGeom>
          <a:solidFill>
            <a:srgbClr val="0A1520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64608" y="3488436"/>
            <a:ext cx="502920" cy="502920"/>
          </a:xfrm>
          <a:prstGeom prst="ellipse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4884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68112" y="350672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with normalized relational schema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754880" y="4206240"/>
            <a:ext cx="4114800" cy="685800"/>
          </a:xfrm>
          <a:prstGeom prst="rect">
            <a:avLst/>
          </a:prstGeom>
          <a:solidFill>
            <a:srgbClr val="0A1520"/>
          </a:solidFill>
          <a:ln w="6350">
            <a:solidFill>
              <a:srgbClr val="00C86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64608" y="4270248"/>
            <a:ext cx="502920" cy="502920"/>
          </a:xfrm>
          <a:prstGeom prst="ellipse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468112" y="428853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architecture for scalability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280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systems and research references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1605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344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Gym Management Systems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commercial gym platforms such as Mindbody, Gymdesk, and Glofox. Identified limitations: high cost, no customization, no workout tracking for small gyms.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97280"/>
            <a:ext cx="4160520" cy="73152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344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Tracking Applications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2763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apps like MyFitnessPal and Fitbod. Gap found: standalone apps don't integrate with gym membership or trainer assignment systems.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41605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632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Technologies Research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45643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React.js, Node.js, and Microsoft SQL Server documentation to understand modern full-stack architecture and API design best practices.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26080"/>
            <a:ext cx="416052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0632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Security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45643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relational database normalization, role-based access control (RBAC), and secure authentication patterns for web applications.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No existing solution combines membership management, trainer assignment, and member progress tracking in one affordable, customizable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280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40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Phase-wise development schedule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8046720" cy="73152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92024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536192" cy="777240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1536192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153619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963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" y="292608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Requirement gathering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" y="352044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" y="411480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 stack finalization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192024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1097280"/>
            <a:ext cx="1536192" cy="77724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10972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14630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03120" y="2423160"/>
            <a:ext cx="1536192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103120" y="2423160"/>
            <a:ext cx="153619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24963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Backend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67128" y="292608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 schema design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67128" y="352044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Node.js/Express API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67128" y="411480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Authentication module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51960" y="1920240"/>
            <a:ext cx="347472" cy="347472"/>
          </a:xfrm>
          <a:prstGeom prst="ellipse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9040" y="1097280"/>
            <a:ext cx="1536192" cy="777240"/>
          </a:xfrm>
          <a:prstGeom prst="rect">
            <a:avLst/>
          </a:prstGeom>
          <a:solidFill>
            <a:srgbClr val="00C86F">
              <a:alpha val="85000"/>
            </a:srgbClr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10972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49040" y="14630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6–8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49040" y="2423160"/>
            <a:ext cx="1536192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49040" y="2423160"/>
            <a:ext cx="1536192" cy="54864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24963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13048" y="292608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React.js UI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13048" y="352044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dashboard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13048" y="411480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 &amp; trainer views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97880" y="192024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94960" y="1097280"/>
            <a:ext cx="1536192" cy="77724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10972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14630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9–10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94960" y="2423160"/>
            <a:ext cx="1536192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94960" y="2423160"/>
            <a:ext cx="15361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94960" y="24963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58968" y="292608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API-UI integration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58968" y="352044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Testing all modules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58968" y="411480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Bug fixing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543800" y="1920240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40880" y="1097280"/>
            <a:ext cx="1536192" cy="777240"/>
          </a:xfrm>
          <a:prstGeom prst="rect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10972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040880" y="14630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11–12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040880" y="2423160"/>
            <a:ext cx="1536192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040880" y="2423160"/>
            <a:ext cx="153619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0" y="24963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Docs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104888" y="292608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deployment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104888" y="352044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104888" y="411480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60D14"/>
          </a:solidFill>
          <a:ln w="12700">
            <a:solidFill>
              <a:srgbClr val="060D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2286000" cy="45720"/>
          </a:xfrm>
          <a:prstGeom prst="rect">
            <a:avLst/>
          </a:prstGeom>
          <a:solidFill>
            <a:srgbClr val="00C86F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Gym Membership and Workout Tracking System is a fully functional, web-based platform that brings modern technology to gym management — streamlining operations and empowering all user roles.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1920240" cy="868680"/>
          </a:xfrm>
          <a:prstGeom prst="rect">
            <a:avLst/>
          </a:prstGeom>
          <a:solidFill>
            <a:srgbClr val="0A1520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121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23160" y="1664208"/>
            <a:ext cx="1920240" cy="868680"/>
          </a:xfrm>
          <a:prstGeom prst="rect">
            <a:avLst/>
          </a:prstGeom>
          <a:solidFill>
            <a:srgbClr val="0A1520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23160" y="2121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1664208"/>
            <a:ext cx="1920240" cy="868680"/>
          </a:xfrm>
          <a:prstGeom prst="rect">
            <a:avLst/>
          </a:prstGeom>
          <a:solidFill>
            <a:srgbClr val="0A1520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26280" y="2121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Layers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1664208"/>
            <a:ext cx="1920240" cy="868680"/>
          </a:xfrm>
          <a:prstGeom prst="rect">
            <a:avLst/>
          </a:prstGeom>
          <a:solidFill>
            <a:srgbClr val="0A1520"/>
          </a:solidFill>
          <a:ln w="12700">
            <a:solidFill>
              <a:srgbClr val="00C8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664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629400" y="21214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Phases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651760"/>
            <a:ext cx="8321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gym operations with full digital automation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trainers to build and assign personalized workout plans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members track and visualize their fitness progress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secure, role-based access for every user type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modern, scalable, industry-standard technologies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0040" y="4343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 </a:t>
            </a:r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react.dev   |   nodejs.org   |   developer.mozilla.org   |   github.com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37307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C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Pritish Prembahadur Rana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1st Year (2nd Sem)  |  Guide: Prof. Sagar Nichal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 Membership and Workout Tracking System</dc:title>
  <dc:subject>PptxGenJS Presentation</dc:subject>
  <dc:creator>PptxGenJS</dc:creator>
  <cp:lastModifiedBy>PptxGenJS</cp:lastModifiedBy>
  <cp:revision>1</cp:revision>
  <dcterms:created xsi:type="dcterms:W3CDTF">2026-04-05T18:56:35Z</dcterms:created>
  <dcterms:modified xsi:type="dcterms:W3CDTF">2026-04-05T18:56:35Z</dcterms:modified>
</cp:coreProperties>
</file>